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5029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2400E"/>
                </a:solidFill>
                <a:latin typeface="Arial"/>
              </a:defRPr>
            </a:pPr>
            <a:r>
              <a:t>DKC DIGITAL RESPECT &amp; COHESION FELLOWSHIP 2026</a:t>
            </a:r>
          </a:p>
          <a:p>
            <a:pPr>
              <a:defRPr sz="4000" b="1">
                <a:solidFill>
                  <a:srgbClr val="18181B"/>
                </a:solidFill>
                <a:latin typeface="Arial"/>
              </a:defRPr>
            </a:pPr>
            <a:r>
              <a:t>Project Protiti (প্রতীতি)</a:t>
            </a:r>
          </a:p>
          <a:p>
            <a:pPr>
              <a:defRPr sz="1600">
                <a:solidFill>
                  <a:srgbClr val="00695C"/>
                </a:solidFill>
                <a:latin typeface="Arial"/>
              </a:defRPr>
            </a:pPr>
            <a:r>
              <a:t>“সন্দেহহীন সত্য, অকাট্য প্রমাণের অধিকার”</a:t>
            </a:r>
            <a:br/>
            <a:r>
              <a:t>From Doubt to Certitude: Structure for Digital Justice</a:t>
            </a:r>
          </a:p>
          <a:p>
            <a:br/>
            <a:pPr>
              <a:defRPr sz="1300">
                <a:solidFill>
                  <a:srgbClr val="3F3F46"/>
                </a:solidFill>
                <a:latin typeface="Arial"/>
              </a:defRPr>
            </a:pPr>
            <a:r>
              <a:t>A research prototype: an encrypted evidence vault, a General Diary (GD) draft for manual filing, and an SMS SOS, for women in Bangladesh. Not for real use until reviewed by a security expert and a field partner.</a:t>
            </a:r>
          </a:p>
          <a:p>
            <a:br/>
            <a:pPr>
              <a:defRPr sz="1100">
                <a:solidFill>
                  <a:srgbClr val="6B7280"/>
                </a:solidFill>
                <a:latin typeface="Arial"/>
              </a:defRPr>
            </a:pPr>
            <a:r>
              <a:t>Partners: UNDP Bangladesh  •  European Union  •  SURGE</a:t>
            </a:r>
            <a:br/>
            <a:r>
              <a:t>Theme: Gender-based Online Violence  •  Lens: Gender Equity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731520"/>
            <a:ext cx="329184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868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FELLOWSHIP TEAM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28016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8181B"/>
                </a:solidFill>
              </a:defRPr>
            </a:pPr>
            <a:r>
              <a:t>CORE FELLOWS (Bootcamps &amp; Leadership):</a:t>
            </a:r>
          </a:p>
          <a:p>
            <a:pPr>
              <a:defRPr sz="1100" b="1">
                <a:solidFill>
                  <a:srgbClr val="92400E"/>
                </a:solidFill>
              </a:defRPr>
            </a:pPr>
            <a:r>
              <a:t>• FARZANA REZA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Team Leader, Operations, Marketing &amp; Research (Acting UI/UX)</a:t>
            </a:r>
          </a:p>
          <a:p>
            <a:pPr>
              <a:defRPr sz="1100" b="1">
                <a:solidFill>
                  <a:srgbClr val="00695C"/>
                </a:solidFill>
              </a:defRPr>
            </a:pPr>
            <a:r>
              <a:t>• ABRAR MASUD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AI &amp; Systems Engineer (Acting Full-Stack / Mobile)</a:t>
            </a:r>
          </a:p>
          <a:p>
            <a:pPr>
              <a:defRPr sz="1100" b="1">
                <a:solidFill>
                  <a:srgbClr val="18181B"/>
                </a:solidFill>
              </a:defRPr>
            </a:pPr>
            <a:r>
              <a:t>• MITHILA KHAN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Legal Advisor &amp; Statutory Compliance (cyber law / Evidence Act)</a:t>
            </a:r>
          </a:p>
          <a:p>
            <a:pPr>
              <a:defRPr sz="1100" b="1">
                <a:solidFill>
                  <a:srgbClr val="6B7280"/>
                </a:solidFill>
              </a:defRPr>
            </a:pPr>
            <a:r>
              <a:t>• RESERVE SLOT 4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Dedicated UI/UX Designer (Interim: Farzana)</a:t>
            </a:r>
          </a:p>
          <a:p>
            <a:pPr>
              <a:defRPr sz="1100" b="1">
                <a:solidFill>
                  <a:srgbClr val="6B7280"/>
                </a:solidFill>
              </a:defRPr>
            </a:pPr>
            <a:r>
              <a:t>• RESERVE SLOT 5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Dedicated Flutter Developer (Interim: Abrar)</a:t>
            </a:r>
          </a:p>
          <a:p>
            <a:br/>
            <a:pPr>
              <a:defRPr sz="950" b="1">
                <a:solidFill>
                  <a:srgbClr val="C62828"/>
                </a:solidFill>
              </a:defRPr>
            </a:pPr>
            <a:r>
              <a:t>THE REALITY:</a:t>
            </a:r>
            <a:br/>
            <a:r>
              <a:t>About 64% of the 359 women who completed a 2022 ActionAid Bangladesh online survey said they had faced online violence (Prothom Alo, 28 Nov 2022; not a national sample).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02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The Reality: Online Violence Destroys Evidence &amp; Silences Victims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Trauma, legal complexity, and social stigma prevent survivors from seeking justice.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1. Evidence Panic Deletion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240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Out of fear, or worry that family will find out, many victims delete chats and block abusers, destroying proof before police can act.</a:t>
            </a:r>
          </a:p>
          <a:p>
            <a:br/>
            <a:pPr>
              <a:defRPr sz="1000" b="1">
                <a:solidFill>
                  <a:srgbClr val="92400E"/>
                </a:solidFill>
              </a:defRPr>
            </a:pPr>
            <a:r>
              <a:t>Impact: With no evidence left, police have little to act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2. Legal Intimidation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240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Cyber law in Bangladesh has changed more than once since 2023. Drafting a General Diary (GD) is bewildering for traumatised victims.</a:t>
            </a:r>
          </a:p>
          <a:p>
            <a:br/>
            <a:pPr>
              <a:defRPr sz="1000" b="1">
                <a:solidFill>
                  <a:srgbClr val="00695C"/>
                </a:solidFill>
              </a:defRPr>
            </a:pPr>
            <a:r>
              <a:t>Impact: Unstructured complaints are hard for duty officers to act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3. The Forensic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86000"/>
            <a:ext cx="2240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Screenshots without links, dates and account names are easy to doubt. The Evidence (Amendment) Act 2022 allows digital records, with forensic examination if authenticity is disputed.</a:t>
            </a:r>
          </a:p>
          <a:p>
            <a:br/>
            <a:pPr>
              <a:defRPr sz="1000" b="1">
                <a:solidFill>
                  <a:srgbClr val="92400E"/>
                </a:solidFill>
              </a:defRPr>
            </a:pPr>
            <a:r>
              <a:t>Impact: Poorly kept evidence can weaken a genuine complaint.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4. Coercion &amp; Stigma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286000"/>
            <a:ext cx="2240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Violent partners or household members regularly seize phones to check contents. Without decoy isolation, having an anti-harassment app invites immediate physical retribution.</a:t>
            </a:r>
          </a:p>
          <a:p>
            <a:br/>
            <a:pPr>
              <a:defRPr sz="1000" b="1">
                <a:solidFill>
                  <a:srgbClr val="92400E"/>
                </a:solidFill>
              </a:defRPr>
            </a:pPr>
            <a:r>
              <a:t>Impact: Victims remain trapped in silence under fear of physical assault.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03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The Solution: Protiti (প্রতীতি) — Structural Safety &amp; Justice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An encrypted, trauma-informed digital legal assistant engineered for Bangladesh.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🔒 On-Device Secure 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• On-device only: evidence is encrypted on the phone (SQLCipher, AES-256). Nothing is uploaded.</a:t>
            </a:r>
            <a:br/>
            <a:r>
              <a:t>• Duress PIN (Decoy Vault): a second PIN, chosen by the user, opens a separate decoy vault.</a:t>
            </a:r>
            <a:br/>
            <a:r>
              <a:t>• Calculator Disguise: the app opens as a working calculator.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📝 GD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• Guided form: short questions turn the survivor's account and evidence list into a GD draft.</a:t>
            </a:r>
            <a:br/>
            <a:r>
              <a:t>• Manual filing: no e-GD integration and no automatic law mapping. A lawyer or PCSW officer should check the draft.</a:t>
            </a:r>
            <a:br/>
            <a:r>
              <a:t>• Printable PDF. Bangla text in the PDF is a known bug.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🚨 Offline Panic SOS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• 3-Second Hold circular progress trigger with haptic feedback to prevent accidental triggers.</a:t>
            </a:r>
            <a:br/>
            <a:r>
              <a:t>• Zero-Data SMS Fallback: Broadcasts GPS coordinates to trusted contacts without cellular data.</a:t>
            </a:r>
            <a:br/>
            <a:r>
              <a:t>• One-tap dialing for 999, 109 and Police Cyber Support for Women (PCSW).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148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🤝 Support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• Legal aid (proposed): referral routes to BLAST and BNWLA are proposed. Neither has agreed.</a:t>
            </a:r>
            <a:br/>
            <a:r>
              <a:t>• Crisis counselling directory (Kaan Pete Roi, Moner Janala).</a:t>
            </a:r>
            <a:br/>
            <a:r>
              <a:t>• PCSW contact details (to verify with PCSW).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04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How It Works: 5-Stage Journey From Chaos to Certitude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A trauma-informed path from harassment to an organised GD draft.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1: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Survivor saves a screenshot, photo, voice note or written note before blocking the abuser.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2: Authenticate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Protiti records the phone's date and time and a SHA-256 file hash. This is not a forensic timestamp.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3: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Trauma-informed 4-step wizard guides survivor through emotional and factual details in plain Bangla.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4: Formulate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The app lays the facts out as a General Diary draft PDF. It does not pick legal sections.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645920"/>
            <a:ext cx="2057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7830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Step 5: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2286000"/>
            <a:ext cx="1837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Survivor files the draft at the thana or shares it with a lawyer or PCSW.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BEFORE vs AFTER PROTITI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8181B"/>
                </a:solidFill>
              </a:defRPr>
            </a:pPr>
            <a:r>
              <a:t>BEFORE: Panic deletion → 0 legal proof → Dismissed by police → Perpetrator escalates abuse.</a:t>
            </a:r>
            <a:br/>
            <a:r>
              <a:t>AFTER: Encrypted vault on the phone → Organised evidence list → GD draft ready to file → A clearer case for police.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05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Technology &amp; Security: What the Prototype Does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Not yet reviewed by a security expert or tested on a real phone.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🔐 Encrypted Vault &amp; Duress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SQLCipher AES-256 with keys in Android Keystore / iOS Keychain. The real PIN (6 or more digits, set at first launch) opens the vault; a separate duress PIN opens a decoy vault with its own file and key. No default PINs.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📲 Calculator Disguise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The app opens as a working calculator; typing your PIN then = opens the vault. The home-screen icon is not disguised yet. A wipe code that the user chooses triggers the vault wipe.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📡 Zero-Data Offline 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Short GPS message (&lt;160 chars) sent over cellular SMS, without mobile data or Wi-Fi. It still needs signal and SMS credit. One tap dials 999, 109 or the PCSW hotline.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40"/>
            <a:ext cx="52578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148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⚖️ Evidence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F3F46"/>
                </a:solidFill>
              </a:defRPr>
            </a:pPr>
            <a:r>
              <a:t>A SHA-256 hash is recorded for each stored file (today of the encrypted file, not the original). Times come from the phone clock. No certificate of authenticity; admissibility needs review by counsel.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06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Target Community &amp; Goals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Bridging female university students, rural youth, police cyber cells, and pro-bono litigators.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KEY BENEFICIARIES &amp;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92400E"/>
                </a:solidFill>
              </a:defRPr>
            </a:pPr>
            <a:r>
              <a:t>• Primary Beneficiaries: </a:t>
            </a:r>
          </a:p>
          <a:p>
            <a:pPr>
              <a:defRPr sz="1000">
                <a:solidFill>
                  <a:srgbClr val="3F3F46"/>
                </a:solidFill>
              </a:defRPr>
            </a:pPr>
            <a:r>
              <a:t>   Female university and college students (18–30) residing in student halls and dormitories facing digital harassment, non-consensual image distribution, and deepfakes.</a:t>
            </a:r>
            <a:br/>
          </a:p>
          <a:p>
            <a:pPr>
              <a:defRPr b="1" sz="1100">
                <a:solidFill>
                  <a:srgbClr val="92400E"/>
                </a:solidFill>
              </a:defRPr>
            </a:pPr>
            <a:r>
              <a:t>• Secondary Beneficiaries: </a:t>
            </a:r>
          </a:p>
          <a:p>
            <a:pPr>
              <a:defRPr sz="1000">
                <a:solidFill>
                  <a:srgbClr val="3F3F46"/>
                </a:solidFill>
              </a:defRPr>
            </a:pPr>
            <a:r>
              <a:t>   Rural and peri-urban youth, through community networks and Union Digital Centres (UDCs) (proposed; no partner agreed).</a:t>
            </a:r>
            <a:br/>
          </a:p>
          <a:p>
            <a:pPr>
              <a:defRPr b="1" sz="1100">
                <a:solidFill>
                  <a:srgbClr val="92400E"/>
                </a:solidFill>
              </a:defRPr>
            </a:pPr>
            <a:r>
              <a:t>• Proposed Partners: </a:t>
            </a:r>
          </a:p>
          <a:p>
            <a:pPr>
              <a:defRPr sz="1000">
                <a:solidFill>
                  <a:srgbClr val="3F3F46"/>
                </a:solidFill>
              </a:defRPr>
            </a:pPr>
            <a:r>
              <a:t>   Police Cyber Support for Women (PCSW), Thana cyber desks, and legal aid groups such as BLAST and BNWLA. None has agreed yet.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852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8-MONTH GOALS (NOT YET MEASURED)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695C"/>
                </a:solidFill>
              </a:defRPr>
            </a:pPr>
            <a:r>
              <a:t>✔ Less Evidence Destroyed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Survivors keep records instead of deleting them in panic. No baseline yet.</a:t>
            </a:r>
          </a:p>
          <a:p>
            <a:pPr>
              <a:defRPr b="1" sz="1100">
                <a:solidFill>
                  <a:srgbClr val="00695C"/>
                </a:solidFill>
              </a:defRPr>
            </a:pPr>
            <a:r>
              <a:t>✔ 5,000 Discrete Toolkits Distributed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Pocket-sized safety cards distributed across Dhaka Division campus dormitories and halls.</a:t>
            </a:r>
          </a:p>
          <a:p>
            <a:pPr>
              <a:defRPr b="1" sz="1100">
                <a:solidFill>
                  <a:srgbClr val="00695C"/>
                </a:solidFill>
              </a:defRPr>
            </a:pPr>
            <a:r>
              <a:t>✔ Better GD Drafts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More complete drafts that a duty officer can act on. No baseline yet.</a:t>
            </a:r>
          </a:p>
          <a:p>
            <a:pPr>
              <a:defRPr b="1" sz="1100">
                <a:solidFill>
                  <a:srgbClr val="00695C"/>
                </a:solidFill>
              </a:defRPr>
            </a:pPr>
            <a:r>
              <a:t>✔ Legal Aid Referral (proposed)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Referral routes to legal aid groups such as BLAST, once one agrees.</a:t>
            </a:r>
          </a:p>
          <a:p>
            <a:pPr>
              <a:defRPr b="1" sz="1100">
                <a:solidFill>
                  <a:srgbClr val="00695C"/>
                </a:solidFill>
              </a:defRPr>
            </a:pPr>
            <a:r>
              <a:t>✔ Offline SMS SOS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SMS-based location works without mobile data, if there is signal and SMS credit.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92400E"/>
                </a:solidFill>
                <a:latin typeface="Arial"/>
              </a:defRPr>
            </a:pPr>
            <a:r>
              <a:t>SLIDE 07  •  DKC FELLOWSHIP 2026  •  THEME 04: GENDER-BASED ONLINE VIOLENCE</a:t>
            </a:r>
          </a:p>
          <a:p>
            <a:pPr>
              <a:defRPr sz="2400" b="1">
                <a:solidFill>
                  <a:srgbClr val="18181B"/>
                </a:solidFill>
                <a:latin typeface="Arial"/>
              </a:defRPr>
            </a:pPr>
            <a:r>
              <a:t>8-Month Implementation Roadmap &amp; BDT 50,000 Seed Grant</a:t>
            </a:r>
          </a:p>
          <a:p>
            <a:pPr>
              <a:defRPr sz="1200">
                <a:solidFill>
                  <a:srgbClr val="00695C"/>
                </a:solidFill>
                <a:latin typeface="Arial"/>
              </a:defRPr>
            </a:pPr>
            <a:r>
              <a:t>Strictly 0% spent on personal stipends; 100% dedicated to toolkits, workshops, and survivor safety.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8-MONTH PHASED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92400E"/>
                </a:solidFill>
              </a:defRPr>
            </a:pPr>
            <a:r>
              <a:t>• Phase 1: Foundation &amp; Audit (M1–M3) [Oct – Dec 2026]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Finalize on-device SQLCipher vault, Duress PIN, GD draft template. Ask a legal aid group (for example BLAST; nothing agreed) to review the evidence format. Attend Innovation Bootcamp.</a:t>
            </a:r>
            <a:br/>
          </a:p>
          <a:p>
            <a:pPr>
              <a:defRPr b="1" sz="1100">
                <a:solidFill>
                  <a:srgbClr val="92400E"/>
                </a:solidFill>
              </a:defRPr>
            </a:pPr>
            <a:r>
              <a:t>• Phase 2: Dhaka Division Pilot (M4–M6) [Jan – Mar 2027]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Roll out 'Train the Trainer' workshops across Dhaka Division campus dorms (DU, JU, Eden Mohila College, BRACU, NSU). Distribute 5,000 survivor toolkits. Attend Progress Bootcamp.</a:t>
            </a:r>
            <a:br/>
          </a:p>
          <a:p>
            <a:pPr>
              <a:defRPr b="1" sz="1100">
                <a:solidFill>
                  <a:srgbClr val="92400E"/>
                </a:solidFill>
              </a:defRPr>
            </a:pPr>
            <a:r>
              <a:t>• Phase 3: Impact Showcase &amp; National Roadmap (M7–M8) [Apr – May 2027]</a:t>
            </a:r>
          </a:p>
          <a:p>
            <a:pPr>
              <a:defRPr sz="950">
                <a:solidFill>
                  <a:srgbClr val="3F3F46"/>
                </a:solidFill>
              </a:defRPr>
            </a:pPr>
            <a:r>
              <a:t>   National showcase with Cyber Police Centre &amp; UNDP presenting audited Dhaka Pilot results plus the National 8-Division Expansion Roadmap. Open-source the GD draft template. Transition to alumni network.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852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BDT 50,000 SEED GRANT — DHAKA DIVISION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695C"/>
                </a:solidFill>
              </a:defRPr>
            </a:pPr>
            <a:r>
              <a:t>• Survivor Toolkits &amp; Handbooks (16%) — BDT 8,000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5,000 discrete folding survivor cards @ BDT 1.30 + 23 Ambassador/Partner Handbooks.</a:t>
            </a:r>
          </a:p>
          <a:p>
            <a:pPr>
              <a:defRPr b="1" sz="1050">
                <a:solidFill>
                  <a:srgbClr val="00695C"/>
                </a:solidFill>
              </a:defRPr>
            </a:pPr>
            <a:r>
              <a:t>• Campus Workshop Logistics (40%) — BDT 20,000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Refreshments, materials &amp; signage for 10 campus activations across 5 Dhaka Division universities.</a:t>
            </a:r>
          </a:p>
          <a:p>
            <a:pPr>
              <a:defRPr b="1" sz="1050">
                <a:solidFill>
                  <a:srgbClr val="00695C"/>
                </a:solidFill>
              </a:defRPr>
            </a:pPr>
            <a:r>
              <a:t>• Ambassador Ground Logistics (24%) — BDT 12,000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Voucher-backed transit subsidies for 8 female student ambassadors, 8 months.</a:t>
            </a:r>
          </a:p>
          <a:p>
            <a:pPr>
              <a:defRPr b="1" sz="1050">
                <a:solidFill>
                  <a:srgbClr val="00695C"/>
                </a:solidFill>
              </a:defRPr>
            </a:pPr>
            <a:r>
              <a:t>• Hotline Triage Connectivity (12%) — BDT 6,000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Dedicated project SIMs, data packages &amp; kiosk hotspots for emergency case triage.</a:t>
            </a:r>
          </a:p>
          <a:p>
            <a:pPr>
              <a:defRPr b="1" sz="1050">
                <a:solidFill>
                  <a:srgbClr val="00695C"/>
                </a:solidFill>
              </a:defRPr>
            </a:pPr>
            <a:r>
              <a:t>• Audit &amp; National Roadmap Prep (8%) — BDT 4,000</a:t>
            </a:r>
          </a:p>
          <a:p>
            <a:pPr>
              <a:defRPr sz="900">
                <a:solidFill>
                  <a:srgbClr val="3F3F46"/>
                </a:solidFill>
              </a:defRPr>
            </a:pPr>
            <a:r>
              <a:t>   Receipt archiving, compliance reporting, and the Phase 2 National Expansion Roadmap dossier.</a:t>
            </a:r>
          </a:p>
          <a:p>
            <a:br/>
            <a:pPr>
              <a:defRPr sz="850" b="1">
                <a:solidFill>
                  <a:srgbClr val="92400E"/>
                </a:solidFill>
              </a:defRPr>
            </a:pPr>
            <a:r>
              <a:t>*UNDP / DKC COMPLIANCE: Disbursed in 2 tranches (BDT 25k x 2). Strictly BDT 0 spent on personal stipends or honoraria.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5029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2400E"/>
                </a:solidFill>
                <a:latin typeface="Arial"/>
              </a:defRPr>
            </a:pPr>
            <a:r>
              <a:t>SUSTAINABILITY &amp; INSTITUTIONAL HANDOVER</a:t>
            </a:r>
          </a:p>
          <a:p>
            <a:pPr>
              <a:defRPr sz="3200" b="1">
                <a:solidFill>
                  <a:srgbClr val="18181B"/>
                </a:solidFill>
                <a:latin typeface="Arial"/>
              </a:defRPr>
            </a:pPr>
            <a:r>
              <a:t>A Lasting Frame for Digital Justice</a:t>
            </a:r>
          </a:p>
          <a:p>
            <a:br/>
            <a:pPr>
              <a:defRPr sz="1300" b="1">
                <a:solidFill>
                  <a:srgbClr val="00695C"/>
                </a:solidFill>
              </a:defRPr>
            </a:pPr>
            <a:r>
              <a:t>✔ Proposed Handover</a:t>
            </a:r>
          </a:p>
          <a:p>
            <a:pPr>
              <a:defRPr sz="1100">
                <a:solidFill>
                  <a:srgbClr val="3F3F46"/>
                </a:solidFill>
              </a:defRPr>
            </a:pPr>
            <a:r>
              <a:t>Seek a long-term owner such as PCSW, a legal aid NGO or the ICT Division's Cyber Help initiatives. None has agreed yet.</a:t>
            </a:r>
          </a:p>
          <a:p>
            <a:br/>
            <a:pPr>
              <a:defRPr sz="1300" b="1">
                <a:solidFill>
                  <a:srgbClr val="00695C"/>
                </a:solidFill>
              </a:defRPr>
            </a:pPr>
            <a:r>
              <a:t>✔ Open-Source Template</a:t>
            </a:r>
          </a:p>
          <a:p>
            <a:pPr>
              <a:defRPr sz="1100">
                <a:solidFill>
                  <a:srgbClr val="3F3F46"/>
                </a:solidFill>
              </a:defRPr>
            </a:pPr>
            <a:r>
              <a:t>Publish the GD draft template, after counsel review, so legal aid clinics can keep it up to date.</a:t>
            </a:r>
          </a:p>
          <a:p>
            <a:br/>
            <a:pPr>
              <a:defRPr sz="1300" b="1">
                <a:solidFill>
                  <a:srgbClr val="00695C"/>
                </a:solidFill>
              </a:defRPr>
            </a:pPr>
            <a:r>
              <a:t>✔ Alumni Ambassador Continuity</a:t>
            </a:r>
          </a:p>
          <a:p>
            <a:pPr>
              <a:defRPr sz="1100">
                <a:solidFill>
                  <a:srgbClr val="3F3F46"/>
                </a:solidFill>
              </a:defRPr>
            </a:pPr>
            <a:r>
              <a:t>Trained student ambassadors join the permanent DKC Alumni Network to train incoming university cohorts.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097280"/>
            <a:ext cx="41148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0" y="123444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Arial"/>
              </a:defRPr>
            </a:pPr>
            <a:r>
              <a:t>THE CALL 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1">
                <a:solidFill>
                  <a:srgbClr val="92400E"/>
                </a:solidFill>
              </a:defRPr>
            </a:pPr>
            <a:r>
              <a:t>“Every woman in Bangladesh deserves a frame of safety. Together, we build the structure for undeniable certitude.”</a:t>
            </a:r>
          </a:p>
          <a:p>
            <a:br/>
            <a:br/>
            <a:pPr>
              <a:defRPr sz="1200">
                <a:solidFill>
                  <a:srgbClr val="18181B"/>
                </a:solidFill>
              </a:defRPr>
            </a:pPr>
            <a:r>
              <a:t>Project Protiti (প্রতীতি)</a:t>
            </a:r>
            <a:br/>
            <a:r>
              <a:t>Digital Khichuri Challenge 2026</a:t>
            </a:r>
            <a:br/>
            <a:r>
              <a:t>UNDP Bangladesh • European Union • SURGE</a:t>
            </a:r>
          </a:p>
          <a:p>
            <a:br/>
            <a:pPr>
              <a:defRPr sz="1100" b="1">
                <a:solidFill>
                  <a:srgbClr val="00695C"/>
                </a:solidFill>
              </a:defRPr>
            </a:pPr>
            <a:r>
              <a:t>Team Lead: Farzana Reza</a:t>
            </a:r>
            <a:br/>
            <a:r>
              <a:t>Ready for Stage 1 Evaluation &amp; Innovation Bootcamp.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